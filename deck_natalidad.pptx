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TGF mundial</c:v>
                </c:pt>
              </c:strCache>
            </c:strRef>
          </c:tx>
          <c:spPr>
            <a:solidFill>
              <a:srgbClr val="2251FF"/>
            </a:solidFill>
            <a:ln w="38100">
              <a:noFill/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1950</c:v>
                </c:pt>
                <c:pt idx="1">
                  <c:v>1980</c:v>
                </c:pt>
                <c:pt idx="2">
                  <c:v>2000</c:v>
                </c:pt>
                <c:pt idx="3">
                  <c:v>2024</c:v>
                </c:pt>
                <c:pt idx="4">
                  <c:v>2050</c:v>
                </c:pt>
                <c:pt idx="5">
                  <c:v>2100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</c:v>
                </c:pt>
                <c:pt idx="1">
                  <c:v>3.7</c:v>
                </c:pt>
                <c:pt idx="2">
                  <c:v>2.8</c:v>
                </c:pt>
                <c:pt idx="3">
                  <c:v>2.2</c:v>
                </c:pt>
                <c:pt idx="4">
                  <c:v>2.0</c:v>
                </c:pt>
                <c:pt idx="5">
                  <c:v>1.8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Reemplazo</c:v>
                </c:pt>
              </c:strCache>
            </c:strRef>
          </c:tx>
          <c:spPr>
            <a:solidFill>
              <a:srgbClr val="B3B3B3"/>
            </a:solidFill>
            <a:ln w="15875">
              <a:noFill/>
              <a:prstDash val="dash"/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1950</c:v>
                </c:pt>
                <c:pt idx="1">
                  <c:v>1980</c:v>
                </c:pt>
                <c:pt idx="2">
                  <c:v>2000</c:v>
                </c:pt>
                <c:pt idx="3">
                  <c:v>2024</c:v>
                </c:pt>
                <c:pt idx="4">
                  <c:v>2050</c:v>
                </c:pt>
                <c:pt idx="5">
                  <c:v>2100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2.1</c:v>
                </c:pt>
                <c:pt idx="1">
                  <c:v>2.1</c:v>
                </c:pt>
                <c:pt idx="2">
                  <c:v>2.1</c:v>
                </c:pt>
                <c:pt idx="3">
                  <c:v>2.1</c:v>
                </c:pt>
                <c:pt idx="4">
                  <c:v>2.1</c:v>
                </c:pt>
                <c:pt idx="5">
                  <c:v>2.1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51C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1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none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TGF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dPt>
            <c:idx val="0"/>
            <c:spPr>
              <a:solidFill>
                <a:srgbClr val="051C2C"/>
              </a:solidFill>
              <a:ln>
                <a:noFill/>
              </a:ln>
            </c:spPr>
          </c:dPt>
          <c:dPt>
            <c:idx val="1"/>
            <c:spPr>
              <a:solidFill>
                <a:srgbClr val="2251FF"/>
              </a:solidFill>
              <a:ln>
                <a:noFill/>
              </a:ln>
            </c:spPr>
          </c:dPt>
          <c:dPt>
            <c:idx val="2"/>
            <c:spPr>
              <a:solidFill>
                <a:srgbClr val="2251FF"/>
              </a:solidFill>
              <a:ln>
                <a:noFill/>
              </a:ln>
            </c:spPr>
          </c:dPt>
          <c:dPt>
            <c:idx val="3"/>
            <c:spPr>
              <a:solidFill>
                <a:srgbClr val="2251FF"/>
              </a:solidFill>
              <a:ln>
                <a:noFill/>
              </a:ln>
            </c:spPr>
          </c:dPt>
          <c:dPt>
            <c:idx val="4"/>
            <c:spPr>
              <a:solidFill>
                <a:srgbClr val="00A9F4"/>
              </a:solidFill>
              <a:ln>
                <a:noFill/>
              </a:ln>
            </c:spPr>
          </c:dPt>
          <c:dPt>
            <c:idx val="5"/>
            <c:spPr>
              <a:solidFill>
                <a:srgbClr val="AAE6F0"/>
              </a:solidFill>
              <a:ln>
                <a:noFill/>
              </a:ln>
            </c:spPr>
          </c:dPt>
          <c:dPt>
            <c:idx val="6"/>
            <c:spPr>
              <a:solidFill>
                <a:srgbClr val="AAE6F0"/>
              </a:solidFill>
              <a:ln>
                <a:noFill/>
              </a:ln>
            </c:spPr>
          </c:dPt>
          <c:dPt>
            <c:idx val="7"/>
            <c:spPr>
              <a:solidFill>
                <a:srgbClr val="AAE6F0"/>
              </a:solidFill>
              <a:ln>
                <a:noFill/>
              </a:ln>
            </c:spPr>
          </c:dPt>
          <c:cat>
            <c:strRef>
              <c:f>Sheet1!$A$2:$A$9</c:f>
              <c:strCache>
                <c:ptCount val="8"/>
                <c:pt idx="0">
                  <c:v>África
Subsahariana</c:v>
                </c:pt>
                <c:pt idx="1">
                  <c:v>África N. y
Asia Occ.</c:v>
                </c:pt>
                <c:pt idx="2">
                  <c:v>Asia
Centro-Sur</c:v>
                </c:pt>
                <c:pt idx="3">
                  <c:v>Oceanía</c:v>
                </c:pt>
                <c:pt idx="4">
                  <c:v>América Latina
y Caribe</c:v>
                </c:pt>
                <c:pt idx="5">
                  <c:v>América
del Norte</c:v>
                </c:pt>
                <c:pt idx="6">
                  <c:v>Asia Or. y
Sudeste</c:v>
                </c:pt>
                <c:pt idx="7">
                  <c:v>Europa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</c:v>
                </c:pt>
                <c:pt idx="1">
                  <c:v>2.8</c:v>
                </c:pt>
                <c:pt idx="2">
                  <c:v>2.2</c:v>
                </c:pt>
                <c:pt idx="3">
                  <c:v>2.1</c:v>
                </c:pt>
                <c:pt idx="4">
                  <c:v>1.8</c:v>
                </c:pt>
                <c:pt idx="5">
                  <c:v>1.6</c:v>
                </c:pt>
                <c:pt idx="6">
                  <c:v>1.5</c:v>
                </c:pt>
                <c:pt idx="7">
                  <c:v>1.4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51C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95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TGF</c:v>
                </c:pt>
              </c:strCache>
            </c:strRef>
          </c:tx>
          <c:spPr>
            <a:solidFill>
              <a:srgbClr val="2251FF"/>
            </a:solidFill>
            <a:ln w="38100">
              <a:noFill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1960</c:v>
                </c:pt>
                <c:pt idx="1">
                  <c:v>1980</c:v>
                </c:pt>
                <c:pt idx="2">
                  <c:v>2000</c:v>
                </c:pt>
                <c:pt idx="3">
                  <c:v>2020</c:v>
                </c:pt>
                <c:pt idx="4">
                  <c:v>2023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</c:v>
                </c:pt>
                <c:pt idx="1">
                  <c:v>2.7</c:v>
                </c:pt>
                <c:pt idx="2">
                  <c:v>2.1</c:v>
                </c:pt>
                <c:pt idx="3">
                  <c:v>1.3</c:v>
                </c:pt>
                <c:pt idx="4">
                  <c:v>1.16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Reemplazo</c:v>
                </c:pt>
              </c:strCache>
            </c:strRef>
          </c:tx>
          <c:spPr>
            <a:solidFill>
              <a:srgbClr val="B3B3B3"/>
            </a:solidFill>
            <a:ln w="15875">
              <a:noFill/>
              <a:prstDash val="dash"/>
            </a:ln>
          </c:spPr>
          <c:marker>
            <c:symbol val="none"/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1960</c:v>
                </c:pt>
                <c:pt idx="1">
                  <c:v>1980</c:v>
                </c:pt>
                <c:pt idx="2">
                  <c:v>2000</c:v>
                </c:pt>
                <c:pt idx="3">
                  <c:v>2020</c:v>
                </c:pt>
                <c:pt idx="4">
                  <c:v>2023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2.1</c:v>
                </c:pt>
                <c:pt idx="1">
                  <c:v>2.1</c:v>
                </c:pt>
                <c:pt idx="2">
                  <c:v>2.1</c:v>
                </c:pt>
                <c:pt idx="3">
                  <c:v>2.1</c:v>
                </c:pt>
                <c:pt idx="4">
                  <c:v>2.1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51C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none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Nacimientos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dPt>
            <c:idx val="0"/>
            <c:spPr>
              <a:solidFill>
                <a:srgbClr val="2251FF"/>
              </a:solidFill>
              <a:ln>
                <a:noFill/>
              </a:ln>
            </c:spPr>
          </c:dPt>
          <c:dPt>
            <c:idx val="1"/>
            <c:spPr>
              <a:solidFill>
                <a:srgbClr val="2251FF"/>
              </a:solidFill>
              <a:ln>
                <a:noFill/>
              </a:ln>
            </c:spPr>
          </c:dPt>
          <c:dPt>
            <c:idx val="2"/>
            <c:spPr>
              <a:solidFill>
                <a:srgbClr val="2251FF"/>
              </a:solidFill>
              <a:ln>
                <a:noFill/>
              </a:ln>
            </c:spPr>
          </c:dPt>
          <c:dPt>
            <c:idx val="3"/>
            <c:spPr>
              <a:solidFill>
                <a:srgbClr val="2251FF"/>
              </a:solidFill>
              <a:ln>
                <a:noFill/>
              </a:ln>
            </c:spPr>
          </c:dPt>
          <c:dPt>
            <c:idx val="4"/>
            <c:spPr>
              <a:solidFill>
                <a:srgbClr val="2251FF"/>
              </a:solidFill>
              <a:ln>
                <a:noFill/>
              </a:ln>
            </c:spPr>
          </c:dPt>
          <c:dPt>
            <c:idx val="5"/>
            <c:spPr>
              <a:solidFill>
                <a:srgbClr val="00A9F4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1990</c:v>
                </c:pt>
                <c:pt idx="1">
                  <c:v>2000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307</c:v>
                </c:pt>
                <c:pt idx="1">
                  <c:v>261</c:v>
                </c:pt>
                <c:pt idx="2">
                  <c:v>251</c:v>
                </c:pt>
                <c:pt idx="3">
                  <c:v>245</c:v>
                </c:pt>
                <c:pt idx="4">
                  <c:v>194</c:v>
                </c:pt>
                <c:pt idx="5">
                  <c:v>174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51C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TGF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dPt>
            <c:idx val="0"/>
            <c:spPr>
              <a:solidFill>
                <a:srgbClr val="051C2C"/>
              </a:solidFill>
              <a:ln>
                <a:noFill/>
              </a:ln>
            </c:spPr>
          </c:dPt>
          <c:dPt>
            <c:idx val="1"/>
            <c:spPr>
              <a:solidFill>
                <a:srgbClr val="AAE6F0"/>
              </a:solidFill>
              <a:ln>
                <a:noFill/>
              </a:ln>
            </c:spPr>
          </c:dPt>
          <c:dPt>
            <c:idx val="2"/>
            <c:spPr>
              <a:solidFill>
                <a:srgbClr val="AAE6F0"/>
              </a:solidFill>
              <a:ln>
                <a:noFill/>
              </a:ln>
            </c:spPr>
          </c:dPt>
          <c:dPt>
            <c:idx val="3"/>
            <c:spPr>
              <a:solidFill>
                <a:srgbClr val="AAE6F0"/>
              </a:solidFill>
              <a:ln>
                <a:noFill/>
              </a:ln>
            </c:spPr>
          </c:dPt>
          <c:dPt>
            <c:idx val="4"/>
            <c:spPr>
              <a:solidFill>
                <a:srgbClr val="AAE6F0"/>
              </a:solidFill>
              <a:ln>
                <a:noFill/>
              </a:ln>
            </c:spPr>
          </c:dPt>
          <c:dPt>
            <c:idx val="5"/>
            <c:spPr>
              <a:solidFill>
                <a:srgbClr val="AAE6F0"/>
              </a:solidFill>
              <a:ln>
                <a:noFill/>
              </a:ln>
            </c:spPr>
          </c:dPt>
          <c:dPt>
            <c:idx val="6"/>
            <c:spPr>
              <a:solidFill>
                <a:srgbClr val="AAE6F0"/>
              </a:solidFill>
              <a:ln>
                <a:noFill/>
              </a:ln>
            </c:spPr>
          </c:dPt>
          <c:dPt>
            <c:idx val="7"/>
            <c:spPr>
              <a:solidFill>
                <a:srgbClr val="AAE6F0"/>
              </a:solidFill>
              <a:ln>
                <a:noFill/>
              </a:ln>
            </c:spPr>
          </c:dPt>
          <c:dPt>
            <c:idx val="8"/>
            <c:spPr>
              <a:solidFill>
                <a:srgbClr val="2251FF"/>
              </a:solidFill>
              <a:ln>
                <a:noFill/>
              </a:ln>
            </c:spPr>
          </c:dPt>
          <c:dPt>
            <c:idx val="9"/>
            <c:spPr>
              <a:solidFill>
                <a:srgbClr val="AAE6F0"/>
              </a:solidFill>
              <a:ln>
                <a:noFill/>
              </a:ln>
            </c:spPr>
          </c:dPt>
          <c:cat>
            <c:strRef>
              <c:f>Sheet1!$A$2:$A$11</c:f>
              <c:strCache>
                <c:ptCount val="10"/>
                <c:pt idx="0">
                  <c:v>Mundo</c:v>
                </c:pt>
                <c:pt idx="1">
                  <c:v>México</c:v>
                </c:pt>
                <c:pt idx="2">
                  <c:v>Francia</c:v>
                </c:pt>
                <c:pt idx="3">
                  <c:v>EE.UU.</c:v>
                </c:pt>
                <c:pt idx="4">
                  <c:v>Alemania</c:v>
                </c:pt>
                <c:pt idx="5">
                  <c:v>Italia</c:v>
                </c:pt>
                <c:pt idx="6">
                  <c:v>Japón</c:v>
                </c:pt>
                <c:pt idx="7">
                  <c:v>España</c:v>
                </c:pt>
                <c:pt idx="8">
                  <c:v>Chile</c:v>
                </c:pt>
                <c:pt idx="9">
                  <c:v>Corea del Sur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2.24</c:v>
                </c:pt>
                <c:pt idx="1">
                  <c:v>1.8</c:v>
                </c:pt>
                <c:pt idx="2">
                  <c:v>1.66</c:v>
                </c:pt>
                <c:pt idx="3">
                  <c:v>1.62</c:v>
                </c:pt>
                <c:pt idx="4">
                  <c:v>1.35</c:v>
                </c:pt>
                <c:pt idx="5">
                  <c:v>1.2</c:v>
                </c:pt>
                <c:pt idx="6">
                  <c:v>1.2</c:v>
                </c:pt>
                <c:pt idx="7">
                  <c:v>1.19</c:v>
                </c:pt>
                <c:pt idx="8">
                  <c:v>1.16</c:v>
                </c:pt>
                <c:pt idx="9">
                  <c:v>0.72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51C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1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Población</c:v>
                </c:pt>
              </c:strCache>
            </c:strRef>
          </c:tx>
          <c:spPr>
            <a:solidFill>
              <a:srgbClr val="2251FF"/>
            </a:solidFill>
            <a:ln w="38100">
              <a:noFill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1990</c:v>
                </c:pt>
                <c:pt idx="1">
                  <c:v>2024</c:v>
                </c:pt>
                <c:pt idx="2">
                  <c:v>2050</c:v>
                </c:pt>
                <c:pt idx="3">
                  <c:v>2075</c:v>
                </c:pt>
                <c:pt idx="4">
                  <c:v>2100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</c:v>
                </c:pt>
                <c:pt idx="1">
                  <c:v>19.8</c:v>
                </c:pt>
                <c:pt idx="2">
                  <c:v>20.6</c:v>
                </c:pt>
                <c:pt idx="3">
                  <c:v>19.2</c:v>
                </c:pt>
                <c:pt idx="4">
                  <c:v>17.5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51C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none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65+</c:v>
                </c:pt>
              </c:strCache>
            </c:strRef>
          </c:tx>
          <c:spPr>
            <a:solidFill>
              <a:srgbClr val="2251FF"/>
            </a:solidFill>
            <a:ln>
              <a:noFill/>
            </a:ln>
          </c:spPr>
          <c:dPt>
            <c:idx val="0"/>
            <c:spPr>
              <a:solidFill>
                <a:srgbClr val="AAE6F0"/>
              </a:solidFill>
              <a:ln>
                <a:noFill/>
              </a:ln>
            </c:spPr>
          </c:dPt>
          <c:dPt>
            <c:idx val="1"/>
            <c:spPr>
              <a:solidFill>
                <a:srgbClr val="00A9F4"/>
              </a:solidFill>
              <a:ln>
                <a:noFill/>
              </a:ln>
            </c:spPr>
          </c:dPt>
          <c:dPt>
            <c:idx val="2"/>
            <c:spPr>
              <a:solidFill>
                <a:srgbClr val="2251FF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2035</c:v>
                </c:pt>
                <c:pt idx="2">
                  <c:v>2050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19</c:v>
                </c:pt>
                <c:pt idx="2">
                  <c:v>25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>
                  <a:solidFill>
                    <a:srgbClr val="051C2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B3B3B3"/>
            </a:solidFill>
          </a:ln>
        </c:spPr>
        <c:txPr>
          <a:bodyPr/>
          <a:lstStyle/>
          <a:p>
            <a:pPr>
              <a:defRPr sz="11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Brunet </a:t>
            </a:r>
            <a:r>
              <a:rPr sz="1400" b="0" i="1">
                <a:solidFill>
                  <a:srgbClr val="FFFFFF"/>
                </a:solidFill>
                <a:latin typeface="Georgia"/>
              </a:rPr>
              <a:t>&amp;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73975" y="48463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8CA3B5"/>
                </a:solidFill>
                <a:latin typeface="Arial"/>
              </a:rPr>
              <a:t>CONFIDENCIAL — BORRADOR PARA DISCUSIÓN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640080" cy="54864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 i="0">
                <a:solidFill>
                  <a:srgbClr val="FFFFFF"/>
                </a:solidFill>
                <a:latin typeface="Georgia"/>
              </a:rPr>
              <a:t>La encrucijada demográfica: natalidad en el mundo y en Chile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9D6DF"/>
                </a:solidFill>
                <a:latin typeface="Arial"/>
              </a:rPr>
              <a:t>Diagnóstico histórico, proyecciones al 2100 y una agenda de acción para enfrentar la caída de la fecundidad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8056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A9F4"/>
                </a:solidFill>
                <a:latin typeface="Georgia"/>
              </a:rPr>
              <a:t>1,16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CA3B5"/>
                </a:solidFill>
                <a:latin typeface="Arial"/>
              </a:rPr>
              <a:t>hijos por mujer en Chile (2023) — reemplazo: 2,1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448056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A9F4"/>
                </a:solidFill>
                <a:latin typeface="Georgia"/>
              </a:rPr>
              <a:t>-31%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507492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CA3B5"/>
                </a:solidFill>
                <a:latin typeface="Arial"/>
              </a:rPr>
              <a:t>nacimientos anuales en Chile entre 2010 y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448056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A9F4"/>
                </a:solidFill>
                <a:latin typeface="Georgia"/>
              </a:rPr>
              <a:t>~2050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507492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CA3B5"/>
                </a:solidFill>
                <a:latin typeface="Arial"/>
              </a:rPr>
              <a:t>año estimado del peak poblacional de Chile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48056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A9F4"/>
                </a:solidFill>
                <a:latin typeface="Georgia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5074920"/>
            <a:ext cx="2514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CA3B5"/>
                </a:solidFill>
                <a:latin typeface="Arial"/>
              </a:rPr>
              <a:t>de los chilenos tendrá 65+ años al 2050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CA3B5"/>
                </a:solidFill>
                <a:latin typeface="Arial"/>
              </a:rPr>
              <a:t>Julio 2026  ·  Documento de trabajo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34295" y="6199632"/>
            <a:ext cx="1554480" cy="310896"/>
          </a:xfrm>
          <a:prstGeom prst="rect">
            <a:avLst/>
          </a:prstGeom>
          <a:noFill/>
          <a:ln w="12700">
            <a:solidFill>
              <a:srgbClr val="35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34295" y="621792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8CA3B5"/>
                </a:solidFill>
                <a:latin typeface="Arial"/>
              </a:rPr>
              <a:t>BORRADOR —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93147" y="310896"/>
            <a:ext cx="1595628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93147" y="329184"/>
            <a:ext cx="1595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RESUMEN EJECUTIVO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Chile registra una de las caídas de fecundidad más rápidas del mundo; la ventana para actuar es esta década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Cinco mensajes centrales del documento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02920" y="2011679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1965960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1C2C"/>
                </a:solidFill>
                <a:latin typeface="Arial"/>
              </a:rPr>
              <a:t>El fenómeno es global: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la fecundidad mundial cayó de ~5 hijos por mujer en 1960 a ~2,2 hoy; dos de cada tres personas ya viven en países bajo el nivel de reemplazo (2,1)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9842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700" b="1" i="0">
                <a:solidFill>
                  <a:srgbClr val="2251FF"/>
                </a:solidFill>
                <a:latin typeface="Georgia"/>
              </a:rPr>
              <a:t>-55%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2316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fecundidad mundial, 1960–2024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2807208"/>
            <a:ext cx="11185855" cy="0"/>
          </a:xfrm>
          <a:prstGeom prst="bentConnector3">
            <a:avLst/>
          </a:prstGeom>
          <a:ln w="9525">
            <a:solidFill>
              <a:srgbClr val="F2F2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02920" y="2880359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2834639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1C2C"/>
                </a:solidFill>
                <a:latin typeface="Arial"/>
              </a:rPr>
              <a:t>Chile es un caso extremo: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pasó de 2,1 hijos por mujer en 2000 a 1,16 en 2023 — hoy al nivel de Japón, Italia y España, y entre las caídas más rápidas de la OCDE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852927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700" b="1" i="0">
                <a:solidFill>
                  <a:srgbClr val="2251FF"/>
                </a:solidFill>
                <a:latin typeface="Georgia"/>
              </a:rPr>
              <a:t>1,16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91839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hijos por mujer en Chile (2023)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3675887"/>
            <a:ext cx="11185855" cy="0"/>
          </a:xfrm>
          <a:prstGeom prst="bentConnector3">
            <a:avLst/>
          </a:prstGeom>
          <a:ln w="9525">
            <a:solidFill>
              <a:srgbClr val="F2F2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02920" y="3749039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703320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1C2C"/>
                </a:solidFill>
                <a:latin typeface="Arial"/>
              </a:rPr>
              <a:t>La caída es estructural, no transitoria: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postergación de la maternidad, costos de crianza y vivienda, y cambio de preferencias — factores que no se revierten solos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721607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700" b="1" i="0">
                <a:solidFill>
                  <a:srgbClr val="2251FF"/>
                </a:solidFill>
                <a:latin typeface="Georgia"/>
              </a:rPr>
              <a:t>-31%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16052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nacimientos anuales, 2010–2023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4544568"/>
            <a:ext cx="11185855" cy="0"/>
          </a:xfrm>
          <a:prstGeom prst="bentConnector3">
            <a:avLst/>
          </a:prstGeom>
          <a:ln w="9525">
            <a:solidFill>
              <a:srgbClr val="F2F2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02920" y="4617720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4572000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1C2C"/>
                </a:solidFill>
                <a:latin typeface="Arial"/>
              </a:rPr>
              <a:t>Las consecuencias llegan pronto: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la población alcanzaría su máximo hacia ~2050; a esa fecha 1 de cada 4 chilenos tendrá 65+ años, presionando crecimiento, pensiones y salud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59028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700" b="1" i="0">
                <a:solidFill>
                  <a:srgbClr val="2251FF"/>
                </a:solidFill>
                <a:latin typeface="Georgia"/>
              </a:rPr>
              <a:t>4 →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502920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en edad de trabajar por adulto mayor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5413248"/>
            <a:ext cx="11185855" cy="0"/>
          </a:xfrm>
          <a:prstGeom prst="bentConnector3">
            <a:avLst/>
          </a:prstGeom>
          <a:ln w="9525">
            <a:solidFill>
              <a:srgbClr val="F2F2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02920" y="5486400"/>
            <a:ext cx="384048" cy="384048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5440680"/>
            <a:ext cx="7772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51C2C"/>
                </a:solidFill>
                <a:latin typeface="Arial"/>
              </a:rPr>
              <a:t>No existe bala de plata: </a:t>
            </a:r>
            <a:r>
              <a:rPr sz="1300" b="0" i="0">
                <a:solidFill>
                  <a:srgbClr val="333333"/>
                </a:solidFill>
                <a:latin typeface="Arial"/>
              </a:rPr>
              <a:t>se requiere un portafolio de tres pilares — apoyar a las familias, adaptar la economía y gestionar la transición fiscal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54589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700" b="1" i="0">
                <a:solidFill>
                  <a:srgbClr val="2251FF"/>
                </a:solidFill>
                <a:latin typeface="Georgia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5897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pilares de la agenda propuesta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ONU World Population Prospects 2024; INE Chile; OCDE; análisis del equipo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2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663" y="310896"/>
            <a:ext cx="896112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2663" y="329184"/>
            <a:ext cx="89611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BORRADOR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La fecundidad mundial cayó a menos de la mitad desde 1960 y convergerá bajo el nivel de reemplazo hacia mediados de siglo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Tasa global de fecundidad (TGF),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hijos por mujer</a:t>
            </a:r>
            <a:r>
              <a:rPr sz="1200" b="0" i="0">
                <a:solidFill>
                  <a:srgbClr val="666666"/>
                </a:solidFill>
                <a:latin typeface="Arial"/>
              </a:rPr>
              <a:t>, mundo, 1950–2100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1 — FECUNDIDAD MUNDIAL, HISTÓRICO Y PROYECCIÓN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02920" y="2496311"/>
          <a:ext cx="7680960" cy="37398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06440" y="2633471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 i="1">
                <a:solidFill>
                  <a:srgbClr val="00A9F4"/>
                </a:solidFill>
                <a:latin typeface="Arial"/>
              </a:rPr>
              <a:t>2024–2100: </a:t>
            </a:r>
            <a:r>
              <a:rPr sz="1100" b="0" i="1">
                <a:solidFill>
                  <a:srgbClr val="666666"/>
                </a:solidFill>
                <a:latin typeface="Arial"/>
              </a:rPr>
              <a:t>proyección ONU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36592"/>
            <a:ext cx="18745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66666"/>
                </a:solidFill>
                <a:latin typeface="Arial"/>
              </a:rPr>
              <a:t>Nivel de reemplazo: 2,1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PRINCIPALES CONCLUSIONES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-55%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Cayó de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4,9 (1950)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a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2,2 (2024)</a:t>
            </a:r>
            <a:r>
              <a:rPr sz="1100" b="0" i="0">
                <a:solidFill>
                  <a:srgbClr val="333333"/>
                </a:solidFill>
                <a:latin typeface="Arial"/>
              </a:rPr>
              <a:t>: la transición más rápida de la historia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~2050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Año en que el mundo cruzaría el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umbral de reemplazo (2,1)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según la ONU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10,3</a:t>
            </a:r>
            <a:r>
              <a:rPr sz="1400" b="1" i="0">
                <a:solidFill>
                  <a:srgbClr val="051C2C"/>
                </a:solidFill>
                <a:latin typeface="Georgia"/>
              </a:rPr>
              <a:t> 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Peak de población mundial hacia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2084</a:t>
            </a:r>
            <a:r>
              <a:rPr sz="1100" b="0" i="0">
                <a:solidFill>
                  <a:srgbClr val="333333"/>
                </a:solidFill>
                <a:latin typeface="Arial"/>
              </a:rPr>
              <a:t>; luego, primer declive sostenido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La baja fecundidad dejó de ser un fenómeno de países ricos: es la nueva normalidad global, y Chile está en la frontera.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ONU World Population Prospects 2024 (escenario medio); análisis del equipo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3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663" y="310896"/>
            <a:ext cx="896112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2663" y="329184"/>
            <a:ext cx="89611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BORRADOR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El mundo está dividido: dos de cada tres personas viven ya en países con fecundidad bajo el nivel de reemplazo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Tasa global de fecundidad por región,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hijos por mujer</a:t>
            </a:r>
            <a:r>
              <a:rPr sz="1200" b="0" i="0">
                <a:solidFill>
                  <a:srgbClr val="666666"/>
                </a:solidFill>
                <a:latin typeface="Arial"/>
              </a:rPr>
              <a:t>, 2024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2 — FECUNDIDAD POR REGIÓN DEL MUNDO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02920" y="2496311"/>
          <a:ext cx="7680960" cy="37398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886200" y="6071616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251FF"/>
                </a:solidFill>
                <a:latin typeface="Arial"/>
              </a:rPr>
              <a:t>↑ incluye Chile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PRINCIPALES CONCLUSIONES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2/3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De la población vive bajo el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nivel de reemplazo</a:t>
            </a:r>
            <a:r>
              <a:rPr sz="1100" b="0" i="0">
                <a:solidFill>
                  <a:srgbClr val="333333"/>
                </a:solidFill>
                <a:latin typeface="Arial"/>
              </a:rPr>
              <a:t>: China, EE.UU., Brasil, India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4,3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Solo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África Subsahariana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mantiene fecundidad alta; tendrá el crecimiento futuro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1,8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51C2C"/>
                </a:solidFill>
                <a:latin typeface="Arial"/>
              </a:rPr>
              <a:t>América Latina </a:t>
            </a:r>
            <a:r>
              <a:rPr sz="1100" b="0" i="0">
                <a:solidFill>
                  <a:srgbClr val="333333"/>
                </a:solidFill>
                <a:latin typeface="Arial"/>
              </a:rPr>
              <a:t>ya cayó bajo el reemplazo y converge con Europa (1,4) y Asia (1,5)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La competencia global por talento migrante se intensificará: quien actúe primero tendrá ventaja.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ONU World Population Prospects 2024; análisis del equipo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4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663" y="310896"/>
            <a:ext cx="896112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2663" y="329184"/>
            <a:ext cx="89611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BORRADOR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Chile pasó de 2,1 hijos por mujer en 2000 a 1,16 en 2023; los nacimientos anuales cayeron un tercio en poco más de una década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Tasa global de fecundidad y nacimientos anuales,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Chile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3 — FECUNDIDAD Y NACIMIENTOS EN CHILE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6946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Tasa global de fecundidad (hijos por mujer)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02920" y="2843783"/>
          <a:ext cx="3794760" cy="3392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234440" y="4599431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Arial"/>
              </a:rPr>
              <a:t>Reemplazo: 2,1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6946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Nacimientos anuales (miles de nacidos vivos)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526280" y="2843783"/>
          <a:ext cx="3840480" cy="3392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943600" y="2862072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251FF"/>
                </a:solidFill>
                <a:latin typeface="Arial"/>
              </a:rPr>
              <a:t>-31% (2010–23)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3136391"/>
            <a:ext cx="2194559" cy="0"/>
          </a:xfrm>
          <a:prstGeom prst="bentConnector3">
            <a:avLst/>
          </a:prstGeom>
          <a:ln w="12700">
            <a:solidFill>
              <a:srgbClr val="666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PRINCIPALES CONCLUSIONES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1,16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Hijos por mujer en 2023 — Chile perdió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casi un hijo por mujer en dos décadas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-31%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Caída de nacimientos 2010–23; las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cohortes escolares próximas ya están definidas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2x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La caída se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aceleró post-2015</a:t>
            </a:r>
            <a:r>
              <a:rPr sz="1100" b="0" i="0">
                <a:solidFill>
                  <a:srgbClr val="333333"/>
                </a:solidFill>
                <a:latin typeface="Arial"/>
              </a:rPr>
              <a:t>: duplica el ritmo de los 2000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Chile ya no discute si tendrá el problema de Europa o Japón — lo tiene hoy, con 20 años menos de preparación.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INE Chile, Estadísticas Vitales; ONU World Population Prospects 2024; análisis del equipo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5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663" y="310896"/>
            <a:ext cx="896112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2663" y="329184"/>
            <a:ext cx="89611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BORRADOR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Chile ya tiene una fecundidad al nivel de Japón, Italia y España — solo Corea del Sur registra un nivel menor entre economías relevantes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Tasa global de fecundidad,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hijos por mujer</a:t>
            </a:r>
            <a:r>
              <a:rPr sz="1200" b="0" i="0">
                <a:solidFill>
                  <a:srgbClr val="666666"/>
                </a:solidFill>
                <a:latin typeface="Arial"/>
              </a:rPr>
              <a:t>, países seleccionados, 2023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4 — BENCHMARK INTERNACIONAL DE FECUNDIDAD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02920" y="2496311"/>
          <a:ext cx="7680960" cy="373989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21" name="Connector 20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PRINCIPALES CONCLUSIONES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Chile tiene la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segunda fecundidad más baja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del grupo, solo sobre Corea (0,72)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~20</a:t>
            </a:r>
            <a:r>
              <a:rPr sz="1400" b="1" i="0">
                <a:solidFill>
                  <a:srgbClr val="051C2C"/>
                </a:solidFill>
                <a:latin typeface="Georgia"/>
              </a:rPr>
              <a:t> años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Lo que a Europa le tomó medio siglo, Chile lo hizo en dos décadas —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sin tiempo para adaptar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-0,5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Brecha vs. Francia (1,66), el país OCDE con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política familiar más agresiva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El caso coreano muestra el riesgo de no actuar: bajo ~1,0 la recuperación es muy difícil y costosa.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INE Chile; OCDE Family Database; Banco Mundial; análisis del equipo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6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663" y="310896"/>
            <a:ext cx="896112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2663" y="329184"/>
            <a:ext cx="89611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BORRADOR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La caída responde a factores estructurales — postergación, costos y nuevas preferencias — y no a un shock transitorio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Principales drivers de la baja fecundidad en Chile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5 — DRIVERS DE LA CAÍDA DE LA NATALIDAD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15184"/>
            <a:ext cx="2487168" cy="2880360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615184"/>
            <a:ext cx="2487168" cy="38404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633472"/>
            <a:ext cx="23042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9F4"/>
                </a:solidFill>
                <a:latin typeface="Arial"/>
              </a:rPr>
              <a:t>A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Postergación biográfica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" y="3172968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127248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Edad promedio del primer hijo subió de ~24 a ~30 años en tres décadas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" y="3922776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877056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Mayor escolaridad femenina y entrada más tardía a la vida laboral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" y="4672584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626864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Postergar comprime la ventana fértil y reduce el número final de hijos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3532" y="2615184"/>
            <a:ext cx="2487168" cy="2880360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13532" y="2615184"/>
            <a:ext cx="2487168" cy="38404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23260" y="2633472"/>
            <a:ext cx="23042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9F4"/>
                </a:solidFill>
                <a:latin typeface="Arial"/>
              </a:rPr>
              <a:t>B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Barreras económicas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1548" y="3172968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6140" y="3127248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Costo de vivienda, educación y cuidado infantil percibido como incompatible con más hijos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1548" y="3922776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6140" y="3877056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Penalidad laboral de la maternidad: brecha de ingresos persistente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1548" y="4672584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6140" y="4626864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Oferta insuficiente de salas cuna y jornadas flexibles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24144" y="2615184"/>
            <a:ext cx="2487168" cy="2880360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24144" y="2615184"/>
            <a:ext cx="2487168" cy="384048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33872" y="2633472"/>
            <a:ext cx="23042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A9F4"/>
                </a:solidFill>
                <a:latin typeface="Arial"/>
              </a:rPr>
              <a:t>C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Cambio de preferencias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172968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3127248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Ideal de familia más pequeña; valoración de proyectos personales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3922776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3877056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Incertidumbre económica pospone decisiones de largo plazo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672584"/>
            <a:ext cx="73152" cy="73152"/>
          </a:xfrm>
          <a:prstGeom prst="rect">
            <a:avLst/>
          </a:prstGeom>
          <a:solidFill>
            <a:srgbClr val="00A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16752" y="4626864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Menos matrimonios y uniones más tardías e inestables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641848"/>
            <a:ext cx="7635240" cy="5029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" y="5705856"/>
            <a:ext cx="7360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251FF"/>
                </a:solidFill>
                <a:latin typeface="Arial"/>
              </a:rPr>
              <a:t>Implicación: </a:t>
            </a:r>
            <a:r>
              <a:rPr sz="1150" b="0" i="0">
                <a:solidFill>
                  <a:srgbClr val="051C2C"/>
                </a:solidFill>
                <a:latin typeface="Arial"/>
              </a:rPr>
              <a:t>ninguno de estos factores se revierte solo — sin intervención la fecundidad cae en una “trampa de baja fecundidad”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LOS NÚMEROS DETRÁS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~30</a:t>
            </a:r>
            <a:r>
              <a:rPr sz="1400" b="1" i="0">
                <a:solidFill>
                  <a:srgbClr val="2251FF"/>
                </a:solidFill>
                <a:latin typeface="Georgia"/>
              </a:rPr>
              <a:t> años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Edad de la madre al primer hijo </a:t>
            </a:r>
            <a:r>
              <a:rPr sz="1050" b="1" i="0">
                <a:solidFill>
                  <a:srgbClr val="051C2C"/>
                </a:solidFill>
                <a:latin typeface="Arial"/>
              </a:rPr>
              <a:t>(vs. ~24 en 1990)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— driver 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-17</a:t>
            </a:r>
            <a:r>
              <a:rPr sz="1400" b="1" i="0">
                <a:solidFill>
                  <a:srgbClr val="2251FF"/>
                </a:solidFill>
                <a:latin typeface="Georgia"/>
              </a:rPr>
              <a:t> p.p.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Ingreso laboral femenino tras el primer hijo, </a:t>
            </a:r>
            <a:r>
              <a:rPr sz="1050" b="1" i="0">
                <a:solidFill>
                  <a:srgbClr val="051C2C"/>
                </a:solidFill>
                <a:latin typeface="Arial"/>
              </a:rPr>
              <a:t>persistente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— driver 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&lt;2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Hijos deseados por las nuevas generaciones: </a:t>
            </a:r>
            <a:r>
              <a:rPr sz="1050" b="1" i="0">
                <a:solidFill>
                  <a:srgbClr val="051C2C"/>
                </a:solidFill>
                <a:latin typeface="Arial"/>
              </a:rPr>
              <a:t>el ideal cayó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— driver 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Una política efectiva debe atacar los tres frentes a la vez; los subsidios aislados no mueven la aguja.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INE; Encuesta Casen; OCDE Family Database; literatura académica (child penalty); análisis del equipo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7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8595" y="310896"/>
            <a:ext cx="1440180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8595" y="329184"/>
            <a:ext cx="14401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ESCENARIO 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Sin cambios, la población de Chile alcanzará su máximo hacia ~2050 y uno de cada cuatro chilenos tendrá 65 años o más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Población total y población de 65+ años, </a:t>
            </a:r>
            <a:r>
              <a:rPr sz="1200" b="1" i="0">
                <a:solidFill>
                  <a:srgbClr val="333333"/>
                </a:solidFill>
                <a:latin typeface="Arial"/>
              </a:rPr>
              <a:t>Chile, escenario medio ONU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6 — POBLACIÓN TOTAL Y ENVEJECIMIENTO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6946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Población total de Chile (millones)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02920" y="2843783"/>
          <a:ext cx="3794760" cy="3099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965960" y="298094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1">
                <a:solidFill>
                  <a:srgbClr val="00A9F4"/>
                </a:solidFill>
                <a:latin typeface="Arial"/>
              </a:rPr>
              <a:t>Peak ~2050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56946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51C2C"/>
                </a:solidFill>
                <a:latin typeface="Arial"/>
              </a:rPr>
              <a:t>Población de 65+ años (% del total)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526280" y="2843783"/>
          <a:ext cx="3840480" cy="3099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601675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51C2C"/>
                </a:solidFill>
                <a:latin typeface="Arial"/>
              </a:rPr>
              <a:t>Razón de dependencia: </a:t>
            </a:r>
            <a:r>
              <a:rPr sz="950" b="0" i="0">
                <a:solidFill>
                  <a:srgbClr val="666666"/>
                </a:solidFill>
                <a:latin typeface="Arial"/>
              </a:rPr>
              <a:t>de ~4 personas en edad de trabajar por adulto mayor hoy, a ~2 hacia 2050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PRINCIPALES CONCLUSIONES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~2050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Peak de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~20,6 millones</a:t>
            </a:r>
            <a:r>
              <a:rPr sz="1100" b="0" i="0">
                <a:solidFill>
                  <a:srgbClr val="333333"/>
                </a:solidFill>
                <a:latin typeface="Arial"/>
              </a:rPr>
              <a:t>; luego el país entra en declive poblacional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25%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Tendrá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65+ años al 2050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(vs. 14% hoy) — el perfil de la Europa actual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4 →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Personas en edad de trabajar por adulto mayor: la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dependencia se duplica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La migración puede desplazar el peak algunos años, pero el envejecimiento ya está “cocinado” en la pirámide actual.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ONU World Population Prospects 2024; INE proyecciones de población; análisis del equipo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8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663" y="310896"/>
            <a:ext cx="896112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92663" y="329184"/>
            <a:ext cx="89611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BORRADOR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El envejecimiento presionará el crecimiento, las pensiones y la salud — los efectos se sentirán antes de lo que se cree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Principales impactos de la transición demográfica en Chile, 2025–2050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7 — IMPACTOS ECONÓMICOS Y SOCIALES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87751"/>
            <a:ext cx="3703320" cy="1737360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706623"/>
            <a:ext cx="34107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CRECIMIENTO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2926079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51C2C"/>
                </a:solidFill>
                <a:latin typeface="Arial"/>
              </a:rPr>
              <a:t>Menos fuerza laboral, menos PIB potencial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346703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La población en edad de trabajar se estanca y cae; sin productividad, el crecimiento potencial baja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776472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51FF"/>
                </a:solidFill>
                <a:latin typeface="Georgia"/>
              </a:rPr>
              <a:t>-0,5 a -1,0 p.p.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4105655"/>
            <a:ext cx="3410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Arial"/>
              </a:rPr>
              <a:t>de crecimiento potencial anual hacia 2050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7" y="2587751"/>
            <a:ext cx="3703320" cy="1737360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706623"/>
            <a:ext cx="34107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PENSIONES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926079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51C2C"/>
                </a:solidFill>
                <a:latin typeface="Arial"/>
              </a:rPr>
              <a:t>La base contributiva se estrecha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346703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Menos cotizantes por pensionado presiona el pilar contributivo y el gasto fiscal (PGU)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776472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51FF"/>
                </a:solidFill>
                <a:latin typeface="Georgia"/>
              </a:rPr>
              <a:t>4 →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105655"/>
            <a:ext cx="3410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Arial"/>
              </a:rPr>
              <a:t>en edad de trabajar por adulto de 65+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471416"/>
            <a:ext cx="3703320" cy="1737360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4590288"/>
            <a:ext cx="34107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SALUD Y CUIDADOS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4809744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51C2C"/>
                </a:solidFill>
                <a:latin typeface="Arial"/>
              </a:rPr>
              <a:t>Demanda creciente de cuidado de largo plazo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" y="5230368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El gasto en salud se concentra en edades avanzadas; el déficit de cuidadores se amplía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" y="5660136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51FF"/>
                </a:solidFill>
                <a:latin typeface="Georgia"/>
              </a:rPr>
              <a:t>2–3x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989319"/>
            <a:ext cx="3410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Arial"/>
              </a:rPr>
              <a:t>gasto sanitario de un 65+ vs. un adulto joven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7" y="4471416"/>
            <a:ext cx="3703320" cy="1737360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4590288"/>
            <a:ext cx="34107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EDUCACIÓN Y CIUDADES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4809744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51C2C"/>
                </a:solidFill>
                <a:latin typeface="Arial"/>
              </a:rPr>
              <a:t>Capacidad instalada excedente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5230368"/>
            <a:ext cx="3410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Matrícula escolar en declive obliga a consolidar y reconvertir infraestructura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5660136"/>
            <a:ext cx="3410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251FF"/>
                </a:solidFill>
                <a:latin typeface="Georgia"/>
              </a:rPr>
              <a:t>-31%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5989319"/>
            <a:ext cx="3410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Arial"/>
              </a:rPr>
              <a:t>de nacimientos 2010–23 define las cohortes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PRINCIPALES CONCLUSIONES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-1</a:t>
            </a:r>
            <a:r>
              <a:rPr sz="1400" b="1" i="0">
                <a:solidFill>
                  <a:srgbClr val="051C2C"/>
                </a:solidFill>
                <a:latin typeface="Georgia"/>
              </a:rPr>
              <a:t> p.p.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De crecimiento potencial en juego: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~un tercio del crecimiento tendencial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de Chile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2030s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Década en que la presión fiscal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se vuelve estructural</a:t>
            </a:r>
            <a:r>
              <a:rPr sz="1100" b="0" i="0">
                <a:solidFill>
                  <a:srgbClr val="333333"/>
                </a:solidFill>
                <a:latin typeface="Arial"/>
              </a:rPr>
              <a:t> — no es un problema de 2050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15</a:t>
            </a:r>
            <a:r>
              <a:rPr sz="1400" b="1" i="0">
                <a:solidFill>
                  <a:srgbClr val="051C2C"/>
                </a:solidFill>
                <a:latin typeface="Georgia"/>
              </a:rPr>
              <a:t> años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333333"/>
                </a:solidFill>
                <a:latin typeface="Arial"/>
              </a:rPr>
              <a:t>Los nacimientos que faltan hoy son los </a:t>
            </a:r>
            <a:r>
              <a:rPr sz="1100" b="1" i="0">
                <a:solidFill>
                  <a:srgbClr val="051C2C"/>
                </a:solidFill>
                <a:latin typeface="Arial"/>
              </a:rPr>
              <a:t>trabajadores que faltarán en 2040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Cada año de inacción encarece la transición; el costo fiscal de esperar crece de forma no lineal.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ONU World Population Prospects 2024; OCDE; literatura de crecimiento y demografía; análisis del equipo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9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16889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1688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RESUMEN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2105" y="310896"/>
            <a:ext cx="1243584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2105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CONTEXTO GLOBAL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27985" y="310896"/>
            <a:ext cx="585216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7985" y="329184"/>
            <a:ext cx="5852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549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549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PROYECCIONES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867" y="310896"/>
            <a:ext cx="1046073" cy="256032"/>
          </a:xfrm>
          <a:prstGeom prst="rect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3867" y="329184"/>
            <a:ext cx="1046073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B3B3B3"/>
                </a:solidFill>
                <a:latin typeface="Arial"/>
              </a:rPr>
              <a:t>IMPLICANCIAS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2236" y="310896"/>
            <a:ext cx="1243584" cy="256032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2236" y="329184"/>
            <a:ext cx="12435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RECOMENDACIONES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70871" y="310896"/>
            <a:ext cx="1517904" cy="256032"/>
          </a:xfrm>
          <a:prstGeom prst="rect">
            <a:avLst/>
          </a:prstGeom>
          <a:noFill/>
          <a:ln w="15875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70871" y="329184"/>
            <a:ext cx="15179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251FF"/>
                </a:solidFill>
                <a:latin typeface="Arial"/>
              </a:rPr>
              <a:t>AGENDA DE 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051C2C"/>
                </a:solidFill>
                <a:latin typeface="Georgia"/>
              </a:rPr>
              <a:t>La respuesta requiere un portafolio integral: apoyar a las familias, adaptar la economía y gestionar la transición con anticipación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8470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Tres pilares, nueve palancas y una hoja de ruta a 24 meses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2203703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295144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B3B3B3"/>
                </a:solidFill>
                <a:latin typeface="Arial"/>
              </a:rPr>
              <a:t>EXHIBIT 8 — AGENDA DE ACCIÓN PROPUESTA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87751"/>
            <a:ext cx="2487168" cy="5303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633471"/>
            <a:ext cx="23042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PILAR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2825496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Apoyar la decisión de tener hijos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91256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255263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Cuidado infantil universal: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sala cuna garantizada y de calidad, desacoplada del contrato de la madre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59352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023360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Corresponsabilidad: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postnatal parental efectivo y flexibilidad laboral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27448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791456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Costo de formar familia: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vivienda para familias jóvenes y transferencias por hijo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3532" y="2587751"/>
            <a:ext cx="2487168" cy="5303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3260" y="2633471"/>
            <a:ext cx="23042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PILAR II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3260" y="2825496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Adaptar la economía y el Estado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13532" y="3191256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23260" y="3255263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Productividad: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automatización, IA y capacitación ante una fuerza laboral menguante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13532" y="3959352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23260" y="4023360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Participación: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elevar empleo femenino y de mayores de 55 con jornadas flexibles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13532" y="4727448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3260" y="4791456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Migración ordenada: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política selectiva orientada a brechas de talento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24144" y="2587751"/>
            <a:ext cx="2487168" cy="5303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3872" y="2633471"/>
            <a:ext cx="23042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PILAR III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3872" y="2825496"/>
            <a:ext cx="2304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Gestionar la transición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24144" y="3191256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3872" y="3255263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Sostenibilidad fiscal: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proyectar y presupuestar hoy el gasto 2035–50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24144" y="3959352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2" y="4023360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Reconversión de infraestructura: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consolidación escolar y capacidad geriátrica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24144" y="4727448"/>
            <a:ext cx="2487168" cy="731520"/>
          </a:xfrm>
          <a:prstGeom prst="rect">
            <a:avLst/>
          </a:prstGeom>
          <a:noFill/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3872" y="4791456"/>
            <a:ext cx="2267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051C2C"/>
                </a:solidFill>
                <a:latin typeface="Arial"/>
              </a:rPr>
              <a:t>Institucionalidad: </a:t>
            </a:r>
            <a:r>
              <a:rPr sz="1050" b="0" i="0">
                <a:solidFill>
                  <a:srgbClr val="333333"/>
                </a:solidFill>
                <a:latin typeface="Arial"/>
              </a:rPr>
              <a:t>unidad de demografía con metas y tablero público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605272"/>
            <a:ext cx="2487168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5660136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2251FF"/>
                </a:solidFill>
                <a:latin typeface="Arial"/>
              </a:rPr>
              <a:t>Próximos 90 días  </a:t>
            </a:r>
            <a:r>
              <a:rPr sz="950" b="0" i="0">
                <a:solidFill>
                  <a:srgbClr val="051C2C"/>
                </a:solidFill>
                <a:latin typeface="Arial"/>
              </a:rPr>
              <a:t>Diagnóstico fino por región y quintil; línea base de indicadores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99815" y="5605272"/>
            <a:ext cx="2487168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9544" y="5660136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2251FF"/>
                </a:solidFill>
                <a:latin typeface="Arial"/>
              </a:rPr>
              <a:t>6–12 meses  </a:t>
            </a:r>
            <a:r>
              <a:rPr sz="950" b="0" i="0">
                <a:solidFill>
                  <a:srgbClr val="051C2C"/>
                </a:solidFill>
                <a:latin typeface="Arial"/>
              </a:rPr>
              <a:t>Diseño y costeo del paquete; pilotos de cuidado infantil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96712" y="5605272"/>
            <a:ext cx="2487168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40" y="5660136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2251FF"/>
                </a:solidFill>
                <a:latin typeface="Arial"/>
              </a:rPr>
              <a:t>12–24 meses  </a:t>
            </a:r>
            <a:r>
              <a:rPr sz="950" b="0" i="0">
                <a:solidFill>
                  <a:srgbClr val="051C2C"/>
                </a:solidFill>
                <a:latin typeface="Arial"/>
              </a:rPr>
              <a:t>Escalamiento nacional y tablero público de seguimiento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12480" y="1051560"/>
            <a:ext cx="0" cy="5230367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732520" y="178308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51FF"/>
                </a:solidFill>
                <a:latin typeface="Arial"/>
              </a:rPr>
              <a:t>POR QUÉ ASÍ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32520" y="2039112"/>
            <a:ext cx="2971800" cy="0"/>
          </a:xfrm>
          <a:prstGeom prst="bentConnector3">
            <a:avLst/>
          </a:prstGeom>
          <a:ln w="19050">
            <a:solidFill>
              <a:srgbClr val="051C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732520" y="219456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+0,2–0,3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262432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Hijos/mujer de ventaja logran los </a:t>
            </a:r>
            <a:r>
              <a:rPr sz="1050" b="1" i="0">
                <a:solidFill>
                  <a:srgbClr val="051C2C"/>
                </a:solidFill>
                <a:latin typeface="Arial"/>
              </a:rPr>
              <a:t>paquetes integrales</a:t>
            </a:r>
            <a:r>
              <a:rPr sz="1050" b="0" i="0">
                <a:solidFill>
                  <a:srgbClr val="333333"/>
                </a:solidFill>
                <a:latin typeface="Arial"/>
              </a:rPr>
              <a:t> (nórdicos, Francia)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315468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251FF"/>
                </a:solidFill>
                <a:latin typeface="Georgia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358444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Países que revirtieron la caída </a:t>
            </a:r>
            <a:r>
              <a:rPr sz="1050" b="1" i="0">
                <a:solidFill>
                  <a:srgbClr val="051C2C"/>
                </a:solidFill>
                <a:latin typeface="Arial"/>
              </a:rPr>
              <a:t>solo con bonos aislados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4114800"/>
            <a:ext cx="29718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51C2C"/>
                </a:solidFill>
                <a:latin typeface="Georgia"/>
              </a:rPr>
              <a:t>24</a:t>
            </a:r>
            <a:r>
              <a:rPr sz="1400" b="1" i="0">
                <a:solidFill>
                  <a:srgbClr val="051C2C"/>
                </a:solidFill>
                <a:latin typeface="Georgia"/>
              </a:rPr>
              <a:t> meses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4544568"/>
            <a:ext cx="29718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33333"/>
                </a:solidFill>
                <a:latin typeface="Arial"/>
              </a:rPr>
              <a:t>De diagnóstico a </a:t>
            </a:r>
            <a:r>
              <a:rPr sz="1050" b="1" i="0">
                <a:solidFill>
                  <a:srgbClr val="051C2C"/>
                </a:solidFill>
                <a:latin typeface="Arial"/>
              </a:rPr>
              <a:t>escalamiento nacional</a:t>
            </a:r>
            <a:r>
              <a:rPr sz="1050" b="0" i="0">
                <a:solidFill>
                  <a:srgbClr val="333333"/>
                </a:solidFill>
                <a:latin typeface="Arial"/>
              </a:rPr>
              <a:t> con tablero público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32520" y="5138928"/>
            <a:ext cx="2971800" cy="9692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78824" y="5248656"/>
            <a:ext cx="26791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0A9F4"/>
                </a:solidFill>
                <a:latin typeface="Arial"/>
              </a:rPr>
              <a:t>SO WHAT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78824" y="5468112"/>
            <a:ext cx="26791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Arial"/>
              </a:rPr>
              <a:t>El objetivo realista no es volver a 2,1 — es estabilizar la fecundidad y ganar tiempo para adaptar la economía.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02920" y="6419088"/>
            <a:ext cx="11185855" cy="0"/>
          </a:xfrm>
          <a:prstGeom prst="bentConnector3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2920" y="64739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Fuente: Benchmarks OCDE de política familiar; experiencia Francia, nórdicos, Corea del Sur y Hungría; análisis del equipo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051C2C"/>
                </a:solidFill>
                <a:latin typeface="Arial"/>
              </a:rPr>
              <a:t>10</a:t>
            </a:r>
            <a:r>
              <a:rPr sz="1050" b="0" i="0">
                <a:solidFill>
                  <a:srgbClr val="666666"/>
                </a:solidFill>
                <a:latin typeface="Arial"/>
              </a:rPr>
              <a:t>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